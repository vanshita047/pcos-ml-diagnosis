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
  </p:notesMasterIdLst>
  <p:sldIdLst>
    <p:sldId id="256" r:id="rId3"/>
    <p:sldId id="257" r:id="rId4"/>
    <p:sldId id="258" r:id="rId6"/>
    <p:sldId id="259" r:id="rId7"/>
    <p:sldId id="260" r:id="rId8"/>
    <p:sldId id="261" r:id="rId9"/>
    <p:sldId id="262" r:id="rId10"/>
    <p:sldId id="263"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In this slide, we introduce PCOS—Polycystic Ovary Syndrome. It’s a hormonal imbalance affecting women of reproductive age. We highlight its significance and the importance of early diagnosis using data-driven methods.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Here, we define our project’s goal—leveraging machine learning to improve PCOS diagnosis. We aim to assess and compare several models for their diagnostic accuracy.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This slide covers our data preprocessing steps—cleaning, encoding, normalization, and feature selection—to prepare the data for building reliable models.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We used three models: Naïve Bayes, which uses probability; Logistic Regression, which gives a probability-based binary output; and Decision Trees, which use a branching structure to classify based on feature splits.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These metrics help us judge model performance. Accuracy tells overall correctness. Precision focuses on how many predicted positives are true. Recall shows how many actual positives were caught. F1 balances precision and recall.</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Here we show which features most influenced the model. Follicle counts, hormone levels, and BMI were key indicators in PCOS detection.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We conclude by emphasizing the potential of machine learning in healthcare. The Decision Tree model was not only accurate but also interpretable, helping doctors make informed choices.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3"/>
          <p:cNvPicPr>
            <a:picLocks noChangeAspect="1"/>
          </p:cNvPicPr>
          <p:nvPr/>
        </p:nvPicPr>
        <p:blipFill>
          <a:blip r:embed="rId2"/>
          <a:stretch>
            <a:fillRect/>
          </a:stretch>
        </p:blipFill>
        <p:spPr>
          <a:xfrm>
            <a:off x="0" y="0"/>
            <a:ext cx="9144000" cy="6858000"/>
          </a:xfrm>
          <a:prstGeom prst="rect">
            <a:avLst/>
          </a:prstGeom>
          <a:noFill/>
          <a:ln w="9525">
            <a:noFill/>
          </a:ln>
        </p:spPr>
      </p:pic>
      <p:sp>
        <p:nvSpPr>
          <p:cNvPr id="2051" name="Rectangle 3"/>
          <p:cNvSpPr>
            <a:spLocks noGrp="1" noChangeArrowheads="1"/>
          </p:cNvSpPr>
          <p:nvPr>
            <p:ph type="ctrTitle"/>
          </p:nvPr>
        </p:nvSpPr>
        <p:spPr>
          <a:xfrm>
            <a:off x="468313" y="3717925"/>
            <a:ext cx="8207375" cy="1082675"/>
          </a:xfrm>
        </p:spPr>
        <p:txBody>
          <a:bodyPr/>
          <a:lstStyle>
            <a:lvl1pPr algn="r">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469900" y="4940300"/>
            <a:ext cx="8212138" cy="981075"/>
          </a:xfrm>
        </p:spPr>
        <p:txBody>
          <a:bodyPr/>
          <a:lstStyle>
            <a:lvl1pPr marL="0" indent="0" algn="r">
              <a:buFontTx/>
              <a:buNone/>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457200" y="6245225"/>
            <a:ext cx="2133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5BCAD085-E8A6-8845-BD4E-CB4CCA059FC4}" type="datetimeFigureOut">
              <a:rPr lang="en-US" smtClean="0"/>
            </a:fld>
            <a:endParaRPr lang="en-US"/>
          </a:p>
        </p:txBody>
      </p:sp>
      <p:sp>
        <p:nvSpPr>
          <p:cNvPr id="10" name="Rectangle 6"/>
          <p:cNvSpPr>
            <a:spLocks noGrp="1" noChangeArrowheads="1"/>
          </p:cNvSpPr>
          <p:nvPr>
            <p:ph type="ftr" sz="quarter" idx="3"/>
          </p:nvPr>
        </p:nvSpPr>
        <p:spPr bwMode="auto">
          <a:xfrm>
            <a:off x="3124200" y="6245225"/>
            <a:ext cx="2895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6553200" y="6245225"/>
            <a:ext cx="2133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C1FF6DA9-008F-8B48-92A6-B652298478BF}"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174750"/>
            <a:ext cx="40386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174750"/>
            <a:ext cx="40386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630238" y="2505075"/>
            <a:ext cx="386873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29150" y="2505075"/>
            <a:ext cx="38877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90500"/>
            <a:ext cx="20574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90500"/>
            <a:ext cx="60198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10"/>
          <p:cNvPicPr>
            <a:picLocks noChangeAspect="1"/>
          </p:cNvPicPr>
          <p:nvPr/>
        </p:nvPicPr>
        <p:blipFill>
          <a:blip r:embed="rId12"/>
          <a:stretch>
            <a:fillRect/>
          </a:stretch>
        </p:blipFill>
        <p:spPr>
          <a:xfrm>
            <a:off x="0" y="0"/>
            <a:ext cx="9144000" cy="6858000"/>
          </a:xfrm>
          <a:prstGeom prst="rect">
            <a:avLst/>
          </a:prstGeom>
          <a:noFill/>
          <a:ln w="9525">
            <a:noFill/>
          </a:ln>
        </p:spPr>
      </p:pic>
      <p:sp>
        <p:nvSpPr>
          <p:cNvPr id="1027" name="Rectangle 3"/>
          <p:cNvSpPr>
            <a:spLocks noGrp="1"/>
          </p:cNvSpPr>
          <p:nvPr>
            <p:ph type="title"/>
          </p:nvPr>
        </p:nvSpPr>
        <p:spPr>
          <a:xfrm>
            <a:off x="457200" y="190500"/>
            <a:ext cx="82296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457200" y="1174750"/>
            <a:ext cx="82296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5BCAD085-E8A6-8845-BD4E-CB4CCA059FC4}" type="datetimeFigureOut">
              <a:rPr lang="en-US" smtClean="0"/>
            </a:fld>
            <a:endParaRPr lang="en-US"/>
          </a:p>
        </p:txBody>
      </p:sp>
      <p:sp>
        <p:nvSpPr>
          <p:cNvPr id="1030" name="Rectangle 6"/>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71120" y="1893570"/>
            <a:ext cx="8877935" cy="3105785"/>
          </a:xfrm>
        </p:spPr>
        <p:style>
          <a:lnRef idx="2">
            <a:schemeClr val="accent1"/>
          </a:lnRef>
          <a:fillRef idx="0">
            <a:srgbClr val="FFFFFF"/>
          </a:fillRef>
          <a:effectRef idx="0">
            <a:srgbClr val="FFFFFF"/>
          </a:effectRef>
          <a:fontRef idx="minor">
            <a:schemeClr val="tx1"/>
          </a:fontRef>
        </p:style>
        <p:txBody>
          <a:bodyPr/>
          <a:lstStyle/>
          <a:p>
            <a:pPr algn="ctr"/>
            <a:r>
              <a:rPr lang="en-US" altLang="en-US" sz="4800" i="1">
                <a:latin typeface="Algerian" panose="04020705040A02060702" charset="0"/>
                <a:cs typeface="Algerian" panose="04020705040A02060702" charset="0"/>
              </a:rPr>
              <a:t>Data Mining</a:t>
            </a:r>
            <a:br>
              <a:rPr lang="en-US" altLang="en-US" sz="4800" i="1">
                <a:latin typeface="Algerian" panose="04020705040A02060702" charset="0"/>
                <a:cs typeface="Algerian" panose="04020705040A02060702" charset="0"/>
              </a:rPr>
            </a:br>
            <a:r>
              <a:rPr lang="en-US" altLang="en-US" sz="4800" i="1">
                <a:latin typeface="Algerian" panose="04020705040A02060702" charset="0"/>
                <a:cs typeface="Algerian" panose="04020705040A02060702" charset="0"/>
              </a:rPr>
              <a:t> </a:t>
            </a:r>
            <a:r>
              <a:rPr lang="en-IN" altLang="en-US" sz="4800" i="1">
                <a:latin typeface="Algerian" panose="04020705040A02060702" charset="0"/>
                <a:cs typeface="Algerian" panose="04020705040A02060702" charset="0"/>
              </a:rPr>
              <a:t>&amp;</a:t>
            </a:r>
            <a:r>
              <a:rPr lang="en-US" altLang="en-US" sz="4800" i="1">
                <a:latin typeface="Algerian" panose="04020705040A02060702" charset="0"/>
                <a:cs typeface="Algerian" panose="04020705040A02060702" charset="0"/>
              </a:rPr>
              <a:t>Data Warehousing </a:t>
            </a:r>
            <a:br>
              <a:rPr lang="en-US" altLang="en-US" sz="4800" i="1">
                <a:latin typeface="Algerian" panose="04020705040A02060702" charset="0"/>
                <a:cs typeface="Algerian" panose="04020705040A02060702" charset="0"/>
              </a:rPr>
            </a:br>
            <a:r>
              <a:rPr lang="en-US" altLang="en-US" sz="4800" i="1">
                <a:latin typeface="Algerian" panose="04020705040A02060702" charset="0"/>
                <a:cs typeface="Algerian" panose="04020705040A02060702" charset="0"/>
              </a:rPr>
              <a:t>for </a:t>
            </a:r>
            <a:br>
              <a:rPr lang="en-US" altLang="en-US" sz="4800" i="1">
                <a:latin typeface="Algerian" panose="04020705040A02060702" charset="0"/>
                <a:cs typeface="Algerian" panose="04020705040A02060702" charset="0"/>
              </a:rPr>
            </a:br>
            <a:r>
              <a:rPr lang="en-US" altLang="en-US" sz="4800" i="1">
                <a:latin typeface="Algerian" panose="04020705040A02060702" charset="0"/>
                <a:cs typeface="Algerian" panose="04020705040A02060702" charset="0"/>
              </a:rPr>
              <a:t>PCOS Diagnosis</a:t>
            </a:r>
            <a:endParaRPr lang="en-US" altLang="en-US" sz="4800" i="1">
              <a:latin typeface="Algerian" panose="04020705040A02060702" charset="0"/>
              <a:cs typeface="Algerian" panose="04020705040A02060702" charset="0"/>
            </a:endParaRPr>
          </a:p>
        </p:txBody>
      </p:sp>
      <p:sp>
        <p:nvSpPr>
          <p:cNvPr id="3" name="Subtitle 2"/>
          <p:cNvSpPr>
            <a:spLocks noGrp="1"/>
          </p:cNvSpPr>
          <p:nvPr>
            <p:ph type="subTitle" idx="1"/>
          </p:nvPr>
        </p:nvSpPr>
        <p:spPr>
          <a:xfrm>
            <a:off x="191135" y="5785485"/>
            <a:ext cx="8212138" cy="981075"/>
          </a:xfrm>
        </p:spPr>
        <p:txBody>
          <a:bodyPr/>
          <a:lstStyle/>
          <a:p>
            <a:pPr algn="l"/>
            <a:r>
              <a:rPr lang="en-IN" sz="1400">
                <a:latin typeface="Algerian" panose="04020705040A02060702" charset="0"/>
                <a:cs typeface="Algerian" panose="04020705040A02060702" charset="0"/>
              </a:rPr>
              <a:t>Group members:</a:t>
            </a:r>
            <a:endParaRPr lang="en-IN" sz="1400">
              <a:latin typeface="Algerian" panose="04020705040A02060702" charset="0"/>
              <a:cs typeface="Algerian" panose="04020705040A02060702" charset="0"/>
            </a:endParaRPr>
          </a:p>
          <a:p>
            <a:pPr algn="l"/>
            <a:r>
              <a:rPr sz="1400">
                <a:latin typeface="Algerian" panose="04020705040A02060702" charset="0"/>
                <a:cs typeface="Algerian" panose="04020705040A02060702" charset="0"/>
              </a:rPr>
              <a:t>Vanshita Chandnani</a:t>
            </a:r>
            <a:endParaRPr sz="1400">
              <a:latin typeface="Algerian" panose="04020705040A02060702" charset="0"/>
              <a:cs typeface="Algerian" panose="04020705040A02060702" charset="0"/>
            </a:endParaRPr>
          </a:p>
          <a:p>
            <a:pPr algn="l"/>
            <a:r>
              <a:rPr sz="1400">
                <a:latin typeface="Algerian" panose="04020705040A02060702" charset="0"/>
                <a:cs typeface="Algerian" panose="04020705040A02060702" charset="0"/>
              </a:rPr>
              <a:t> Somya Jain</a:t>
            </a:r>
            <a:endParaRPr sz="1400">
              <a:latin typeface="Algerian" panose="04020705040A02060702" charset="0"/>
              <a:cs typeface="Algerian" panose="04020705040A02060702"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359660" y="893445"/>
            <a:ext cx="8229600" cy="582613"/>
          </a:xfrm>
        </p:spPr>
        <p:txBody>
          <a:bodyPr/>
          <a:lstStyle/>
          <a:p>
            <a:r>
              <a:rPr sz="4000">
                <a:latin typeface="Algerian" panose="04020705040A02060702" charset="0"/>
                <a:cs typeface="Algerian" panose="04020705040A02060702" charset="0"/>
              </a:rPr>
              <a:t>Introduction</a:t>
            </a:r>
            <a:endParaRPr sz="4000">
              <a:latin typeface="Algerian" panose="04020705040A02060702" charset="0"/>
              <a:cs typeface="Algerian" panose="04020705040A02060702" charset="0"/>
            </a:endParaRPr>
          </a:p>
        </p:txBody>
      </p:sp>
      <p:sp>
        <p:nvSpPr>
          <p:cNvPr id="3" name="Content Placeholder 2"/>
          <p:cNvSpPr>
            <a:spLocks noGrp="1"/>
          </p:cNvSpPr>
          <p:nvPr>
            <p:ph idx="1"/>
          </p:nvPr>
        </p:nvSpPr>
        <p:spPr>
          <a:xfrm>
            <a:off x="527685" y="1655445"/>
            <a:ext cx="8229600" cy="4953000"/>
          </a:xfrm>
        </p:spPr>
        <p:txBody>
          <a:bodyPr/>
          <a:lstStyle/>
          <a:p>
            <a:pPr>
              <a:buFont typeface="Wingdings" panose="05000000000000000000" charset="0"/>
              <a:buChar char="Ø"/>
            </a:pPr>
            <a:r>
              <a:rPr>
                <a:latin typeface="Bahnschrift" panose="020B0502040204020203" charset="0"/>
                <a:cs typeface="Bahnschrift" panose="020B0502040204020203" charset="0"/>
              </a:rPr>
              <a:t> PCOS is a hormonal disorder causing enlarged ovaries with small cysts.</a:t>
            </a:r>
            <a:endParaRPr>
              <a:latin typeface="Bahnschrift" panose="020B0502040204020203" charset="0"/>
              <a:cs typeface="Bahnschrift" panose="020B0502040204020203" charset="0"/>
            </a:endParaRPr>
          </a:p>
          <a:p>
            <a:pPr>
              <a:buFont typeface="Wingdings" panose="05000000000000000000" charset="0"/>
              <a:buChar char="Ø"/>
            </a:pPr>
            <a:r>
              <a:rPr>
                <a:latin typeface="Bahnschrift" panose="020B0502040204020203" charset="0"/>
                <a:cs typeface="Bahnschrift" panose="020B0502040204020203" charset="0"/>
              </a:rPr>
              <a:t>It affects reproductive, metabolic, and psychological health.</a:t>
            </a:r>
            <a:endParaRPr>
              <a:latin typeface="Bahnschrift" panose="020B0502040204020203" charset="0"/>
              <a:cs typeface="Bahnschrift" panose="020B0502040204020203" charset="0"/>
            </a:endParaRPr>
          </a:p>
          <a:p>
            <a:pPr>
              <a:buFont typeface="Wingdings" panose="05000000000000000000" charset="0"/>
              <a:buChar char="Ø"/>
            </a:pPr>
            <a:r>
              <a:rPr>
                <a:latin typeface="Bahnschrift" panose="020B0502040204020203" charset="0"/>
                <a:cs typeface="Bahnschrift" panose="020B0502040204020203" charset="0"/>
              </a:rPr>
              <a:t> Early diagnosis is crucial for effective treatment and management.</a:t>
            </a:r>
            <a:endParaRPr>
              <a:latin typeface="Bahnschrift" panose="020B0502040204020203" charset="0"/>
              <a:cs typeface="Bahnschrift" panose="020B0502040204020203"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767205" y="1017905"/>
            <a:ext cx="8229600" cy="582613"/>
          </a:xfrm>
        </p:spPr>
        <p:txBody>
          <a:bodyPr/>
          <a:lstStyle/>
          <a:p>
            <a:r>
              <a:rPr sz="4000">
                <a:latin typeface="Algerian" panose="04020705040A02060702" charset="0"/>
                <a:cs typeface="Algerian" panose="04020705040A02060702" charset="0"/>
              </a:rPr>
              <a:t>Project Objective</a:t>
            </a:r>
            <a:endParaRPr sz="4000">
              <a:latin typeface="Algerian" panose="04020705040A02060702" charset="0"/>
              <a:cs typeface="Algerian" panose="04020705040A02060702" charset="0"/>
            </a:endParaRPr>
          </a:p>
        </p:txBody>
      </p:sp>
      <p:sp>
        <p:nvSpPr>
          <p:cNvPr id="3" name="Content Placeholder 2"/>
          <p:cNvSpPr>
            <a:spLocks noGrp="1"/>
          </p:cNvSpPr>
          <p:nvPr>
            <p:ph idx="1"/>
          </p:nvPr>
        </p:nvSpPr>
        <p:spPr>
          <a:xfrm>
            <a:off x="457200" y="1905000"/>
            <a:ext cx="8229600" cy="4953000"/>
          </a:xfrm>
        </p:spPr>
        <p:txBody>
          <a:bodyPr/>
          <a:lstStyle/>
          <a:p>
            <a:pPr>
              <a:buFont typeface="Wingdings" panose="05000000000000000000" charset="0"/>
              <a:buChar char="Ø"/>
            </a:pPr>
            <a:r>
              <a:rPr>
                <a:latin typeface="Bahnschrift" panose="020B0502040204020203" charset="0"/>
                <a:cs typeface="Bahnschrift" panose="020B0502040204020203" charset="0"/>
              </a:rPr>
              <a:t>Apply machine learning to aid in early and accurate diagnosis of PCOS.</a:t>
            </a:r>
            <a:endParaRPr>
              <a:latin typeface="Bahnschrift" panose="020B0502040204020203" charset="0"/>
              <a:cs typeface="Bahnschrift" panose="020B0502040204020203" charset="0"/>
            </a:endParaRPr>
          </a:p>
          <a:p>
            <a:pPr>
              <a:buFont typeface="Wingdings" panose="05000000000000000000" charset="0"/>
              <a:buChar char="Ø"/>
            </a:pPr>
            <a:r>
              <a:rPr>
                <a:latin typeface="Bahnschrift" panose="020B0502040204020203" charset="0"/>
                <a:cs typeface="Bahnschrift" panose="020B0502040204020203" charset="0"/>
              </a:rPr>
              <a:t>Compare models: Naïve Bayes, Logistic Regression, Decision Trees.</a:t>
            </a:r>
            <a:endParaRPr>
              <a:latin typeface="Bahnschrift" panose="020B0502040204020203" charset="0"/>
              <a:cs typeface="Bahnschrift" panose="020B0502040204020203" charset="0"/>
            </a:endParaRPr>
          </a:p>
          <a:p>
            <a:pPr>
              <a:buFont typeface="Wingdings" panose="05000000000000000000" charset="0"/>
              <a:buChar char="Ø"/>
            </a:pPr>
            <a:r>
              <a:rPr>
                <a:latin typeface="Bahnschrift" panose="020B0502040204020203" charset="0"/>
                <a:cs typeface="Bahnschrift" panose="020B0502040204020203" charset="0"/>
              </a:rPr>
              <a:t>Evaluate models using key performance metrics.</a:t>
            </a:r>
            <a:endParaRPr>
              <a:latin typeface="Bahnschrift" panose="020B0502040204020203" charset="0"/>
              <a:cs typeface="Bahnschrift" panose="020B0502040204020203"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617980" y="1318895"/>
            <a:ext cx="8229600" cy="582613"/>
          </a:xfrm>
        </p:spPr>
        <p:txBody>
          <a:bodyPr/>
          <a:lstStyle/>
          <a:p>
            <a:r>
              <a:rPr sz="4000">
                <a:latin typeface="Algerian" panose="04020705040A02060702" charset="0"/>
                <a:cs typeface="Algerian" panose="04020705040A02060702" charset="0"/>
              </a:rPr>
              <a:t>Data Preprocessing</a:t>
            </a:r>
            <a:endParaRPr sz="4000">
              <a:latin typeface="Algerian" panose="04020705040A02060702" charset="0"/>
              <a:cs typeface="Algerian" panose="04020705040A02060702" charset="0"/>
            </a:endParaRPr>
          </a:p>
        </p:txBody>
      </p:sp>
      <p:sp>
        <p:nvSpPr>
          <p:cNvPr id="3" name="Content Placeholder 2"/>
          <p:cNvSpPr>
            <a:spLocks noGrp="1"/>
          </p:cNvSpPr>
          <p:nvPr>
            <p:ph idx="1"/>
          </p:nvPr>
        </p:nvSpPr>
        <p:spPr>
          <a:xfrm>
            <a:off x="457200" y="2083435"/>
            <a:ext cx="8229600" cy="4953000"/>
          </a:xfrm>
        </p:spPr>
        <p:txBody>
          <a:bodyPr/>
          <a:lstStyle/>
          <a:p>
            <a:pPr>
              <a:buFont typeface="Wingdings" panose="05000000000000000000" charset="0"/>
              <a:buChar char="Ø"/>
            </a:pPr>
            <a:r>
              <a:rPr>
                <a:latin typeface="Bahnschrift" panose="020B0502040204020203" charset="0"/>
                <a:cs typeface="Bahnschrift" panose="020B0502040204020203" charset="0"/>
              </a:rPr>
              <a:t>Cleaned dataset: Removed nulls and duplicates.</a:t>
            </a:r>
            <a:endParaRPr>
              <a:latin typeface="Bahnschrift" panose="020B0502040204020203" charset="0"/>
              <a:cs typeface="Bahnschrift" panose="020B0502040204020203" charset="0"/>
            </a:endParaRPr>
          </a:p>
          <a:p>
            <a:pPr>
              <a:buFont typeface="Wingdings" panose="05000000000000000000" charset="0"/>
              <a:buChar char="Ø"/>
            </a:pPr>
            <a:r>
              <a:rPr>
                <a:latin typeface="Bahnschrift" panose="020B0502040204020203" charset="0"/>
                <a:cs typeface="Bahnschrift" panose="020B0502040204020203" charset="0"/>
              </a:rPr>
              <a:t>Encoded categorical values.</a:t>
            </a:r>
            <a:endParaRPr>
              <a:latin typeface="Bahnschrift" panose="020B0502040204020203" charset="0"/>
              <a:cs typeface="Bahnschrift" panose="020B0502040204020203" charset="0"/>
            </a:endParaRPr>
          </a:p>
          <a:p>
            <a:pPr>
              <a:buFont typeface="Wingdings" panose="05000000000000000000" charset="0"/>
              <a:buChar char="Ø"/>
            </a:pPr>
            <a:r>
              <a:rPr>
                <a:latin typeface="Bahnschrift" panose="020B0502040204020203" charset="0"/>
                <a:cs typeface="Bahnschrift" panose="020B0502040204020203" charset="0"/>
              </a:rPr>
              <a:t>Normalized data for consistent scaling.</a:t>
            </a:r>
            <a:endParaRPr>
              <a:latin typeface="Bahnschrift" panose="020B0502040204020203" charset="0"/>
              <a:cs typeface="Bahnschrift" panose="020B0502040204020203" charset="0"/>
            </a:endParaRPr>
          </a:p>
          <a:p>
            <a:pPr>
              <a:buFont typeface="Wingdings" panose="05000000000000000000" charset="0"/>
              <a:buChar char="Ø"/>
            </a:pPr>
            <a:r>
              <a:rPr>
                <a:latin typeface="Bahnschrift" panose="020B0502040204020203" charset="0"/>
                <a:cs typeface="Bahnschrift" panose="020B0502040204020203" charset="0"/>
              </a:rPr>
              <a:t>Selected relevant features for model building.</a:t>
            </a:r>
            <a:endParaRPr>
              <a:latin typeface="Bahnschrift" panose="020B0502040204020203" charset="0"/>
              <a:cs typeface="Bahnschrift" panose="020B0502040204020203"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699260" y="1261110"/>
            <a:ext cx="8229600" cy="582613"/>
          </a:xfrm>
        </p:spPr>
        <p:txBody>
          <a:bodyPr/>
          <a:lstStyle/>
          <a:p>
            <a:r>
              <a:rPr sz="4000">
                <a:latin typeface="Algerian" panose="04020705040A02060702" charset="0"/>
                <a:cs typeface="Algerian" panose="04020705040A02060702" charset="0"/>
              </a:rPr>
              <a:t>Machine Learning Models</a:t>
            </a:r>
            <a:endParaRPr sz="4000">
              <a:latin typeface="Algerian" panose="04020705040A02060702" charset="0"/>
              <a:cs typeface="Algerian" panose="04020705040A02060702" charset="0"/>
            </a:endParaRPr>
          </a:p>
        </p:txBody>
      </p:sp>
      <p:sp>
        <p:nvSpPr>
          <p:cNvPr id="3" name="Content Placeholder 2"/>
          <p:cNvSpPr>
            <a:spLocks noGrp="1"/>
          </p:cNvSpPr>
          <p:nvPr>
            <p:ph idx="1"/>
          </p:nvPr>
        </p:nvSpPr>
        <p:spPr>
          <a:xfrm>
            <a:off x="588010" y="2012950"/>
            <a:ext cx="8229600" cy="4953000"/>
          </a:xfrm>
        </p:spPr>
        <p:txBody>
          <a:bodyPr/>
          <a:lstStyle/>
          <a:p>
            <a:pPr>
              <a:buFont typeface="Wingdings" panose="05000000000000000000" charset="0"/>
              <a:buChar char="Ø"/>
            </a:pPr>
            <a:r>
              <a:rPr>
                <a:latin typeface="Bahnschrift" panose="020B0502040204020203" charset="0"/>
                <a:cs typeface="Bahnschrift" panose="020B0502040204020203" charset="0"/>
              </a:rPr>
              <a:t>Naïve Bayes: Based on Bayes’ Theorem.</a:t>
            </a:r>
            <a:endParaRPr>
              <a:latin typeface="Bahnschrift" panose="020B0502040204020203" charset="0"/>
              <a:cs typeface="Bahnschrift" panose="020B0502040204020203" charset="0"/>
            </a:endParaRPr>
          </a:p>
          <a:p>
            <a:pPr>
              <a:buFont typeface="Wingdings" panose="05000000000000000000" charset="0"/>
              <a:buChar char="Ø"/>
            </a:pPr>
            <a:r>
              <a:rPr>
                <a:latin typeface="Bahnschrift" panose="020B0502040204020203" charset="0"/>
                <a:cs typeface="Bahnschrift" panose="020B0502040204020203" charset="0"/>
              </a:rPr>
              <a:t>Logistic Regression: Probabilistic classification.</a:t>
            </a:r>
            <a:endParaRPr>
              <a:latin typeface="Bahnschrift" panose="020B0502040204020203" charset="0"/>
              <a:cs typeface="Bahnschrift" panose="020B0502040204020203" charset="0"/>
            </a:endParaRPr>
          </a:p>
          <a:p>
            <a:pPr>
              <a:buFont typeface="Wingdings" panose="05000000000000000000" charset="0"/>
              <a:buChar char="Ø"/>
            </a:pPr>
            <a:r>
              <a:rPr>
                <a:latin typeface="Bahnschrift" panose="020B0502040204020203" charset="0"/>
                <a:cs typeface="Bahnschrift" panose="020B0502040204020203" charset="0"/>
              </a:rPr>
              <a:t>Decision Tree: Rule-based classification with feature importance.</a:t>
            </a:r>
            <a:endParaRPr>
              <a:latin typeface="Bahnschrift" panose="020B0502040204020203" charset="0"/>
              <a:cs typeface="Bahnschrift" panose="020B0502040204020203"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383030" y="1004570"/>
            <a:ext cx="8229600" cy="582613"/>
          </a:xfrm>
        </p:spPr>
        <p:txBody>
          <a:bodyPr/>
          <a:lstStyle/>
          <a:p>
            <a:r>
              <a:rPr sz="4000">
                <a:latin typeface="Algerian" panose="04020705040A02060702" charset="0"/>
                <a:cs typeface="Algerian" panose="04020705040A02060702" charset="0"/>
              </a:rPr>
              <a:t>Evaluation Metrics</a:t>
            </a:r>
            <a:endParaRPr sz="4000">
              <a:latin typeface="Algerian" panose="04020705040A02060702" charset="0"/>
              <a:cs typeface="Algerian" panose="04020705040A02060702" charset="0"/>
            </a:endParaRPr>
          </a:p>
        </p:txBody>
      </p:sp>
      <p:sp>
        <p:nvSpPr>
          <p:cNvPr id="3" name="Content Placeholder 2"/>
          <p:cNvSpPr>
            <a:spLocks noGrp="1"/>
          </p:cNvSpPr>
          <p:nvPr>
            <p:ph idx="1"/>
          </p:nvPr>
        </p:nvSpPr>
        <p:spPr>
          <a:xfrm>
            <a:off x="365760" y="1978660"/>
            <a:ext cx="8229600" cy="4953000"/>
          </a:xfrm>
        </p:spPr>
        <p:txBody>
          <a:bodyPr/>
          <a:lstStyle/>
          <a:p>
            <a:pPr>
              <a:buFont typeface="Wingdings" panose="05000000000000000000" charset="0"/>
              <a:buChar char="Ø"/>
            </a:pPr>
            <a:r>
              <a:rPr>
                <a:latin typeface="Bahnschrift" panose="020B0502040204020203" charset="0"/>
                <a:cs typeface="Bahnschrift" panose="020B0502040204020203" charset="0"/>
              </a:rPr>
              <a:t> Accuracy = (TP + TN) / (TP + TN + FP + FN)</a:t>
            </a:r>
            <a:endParaRPr>
              <a:latin typeface="Bahnschrift" panose="020B0502040204020203" charset="0"/>
              <a:cs typeface="Bahnschrift" panose="020B0502040204020203" charset="0"/>
            </a:endParaRPr>
          </a:p>
          <a:p>
            <a:pPr>
              <a:buFont typeface="Wingdings" panose="05000000000000000000" charset="0"/>
              <a:buChar char="Ø"/>
            </a:pPr>
            <a:r>
              <a:rPr>
                <a:latin typeface="Bahnschrift" panose="020B0502040204020203" charset="0"/>
                <a:cs typeface="Bahnschrift" panose="020B0502040204020203" charset="0"/>
              </a:rPr>
              <a:t> Precision = TP / (TP + FP)</a:t>
            </a:r>
            <a:endParaRPr>
              <a:latin typeface="Bahnschrift" panose="020B0502040204020203" charset="0"/>
              <a:cs typeface="Bahnschrift" panose="020B0502040204020203" charset="0"/>
            </a:endParaRPr>
          </a:p>
          <a:p>
            <a:pPr>
              <a:buFont typeface="Wingdings" panose="05000000000000000000" charset="0"/>
              <a:buChar char="Ø"/>
            </a:pPr>
            <a:r>
              <a:rPr>
                <a:latin typeface="Bahnschrift" panose="020B0502040204020203" charset="0"/>
                <a:cs typeface="Bahnschrift" panose="020B0502040204020203" charset="0"/>
              </a:rPr>
              <a:t> Recall = TP / (TP + FN)</a:t>
            </a:r>
            <a:endParaRPr>
              <a:latin typeface="Bahnschrift" panose="020B0502040204020203" charset="0"/>
              <a:cs typeface="Bahnschrift" panose="020B0502040204020203" charset="0"/>
            </a:endParaRPr>
          </a:p>
          <a:p>
            <a:pPr>
              <a:buFont typeface="Wingdings" panose="05000000000000000000" charset="0"/>
              <a:buChar char="Ø"/>
            </a:pPr>
            <a:r>
              <a:rPr>
                <a:latin typeface="Bahnschrift" panose="020B0502040204020203" charset="0"/>
                <a:cs typeface="Bahnschrift" panose="020B0502040204020203" charset="0"/>
              </a:rPr>
              <a:t> F1 Score = 2 * (Precision * Recall) / (Precision + Recall)</a:t>
            </a:r>
            <a:endParaRPr>
              <a:latin typeface="Bahnschrift" panose="020B0502040204020203" charset="0"/>
              <a:cs typeface="Bahnschrift" panose="020B0502040204020203"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840865" y="1119505"/>
            <a:ext cx="8229600" cy="582613"/>
          </a:xfrm>
        </p:spPr>
        <p:txBody>
          <a:bodyPr/>
          <a:lstStyle/>
          <a:p>
            <a:r>
              <a:rPr sz="4000">
                <a:latin typeface="Algerian" panose="04020705040A02060702" charset="0"/>
                <a:cs typeface="Algerian" panose="04020705040A02060702" charset="0"/>
              </a:rPr>
              <a:t>Feature Importance</a:t>
            </a:r>
            <a:endParaRPr sz="4000">
              <a:latin typeface="Algerian" panose="04020705040A02060702" charset="0"/>
              <a:cs typeface="Algerian" panose="04020705040A02060702" charset="0"/>
            </a:endParaRPr>
          </a:p>
        </p:txBody>
      </p:sp>
      <p:sp>
        <p:nvSpPr>
          <p:cNvPr id="3" name="Content Placeholder 2"/>
          <p:cNvSpPr>
            <a:spLocks noGrp="1"/>
          </p:cNvSpPr>
          <p:nvPr>
            <p:ph idx="1"/>
          </p:nvPr>
        </p:nvSpPr>
        <p:spPr>
          <a:xfrm>
            <a:off x="517525" y="1982470"/>
            <a:ext cx="8229600" cy="4953000"/>
          </a:xfrm>
        </p:spPr>
        <p:txBody>
          <a:bodyPr/>
          <a:lstStyle/>
          <a:p>
            <a:pPr>
              <a:buFont typeface="Wingdings" panose="05000000000000000000" charset="0"/>
              <a:buChar char="Ø"/>
            </a:pPr>
            <a:r>
              <a:t>Features ranked by Decision Tree model:</a:t>
            </a:r>
          </a:p>
          <a:p>
            <a:pPr marL="0" indent="0">
              <a:buFont typeface="Wingdings" panose="05000000000000000000" charset="0"/>
              <a:buNone/>
            </a:pPr>
            <a:r>
              <a:t> • Follicle number (left and right ovaries)</a:t>
            </a:r>
          </a:p>
          <a:p>
            <a:pPr marL="0" indent="0">
              <a:buFont typeface="Wingdings" panose="05000000000000000000" charset="0"/>
              <a:buNone/>
            </a:pPr>
            <a:r>
              <a:t> • FSH and LH hormone levels</a:t>
            </a:r>
          </a:p>
          <a:p>
            <a:pPr marL="0" indent="0">
              <a:buFont typeface="Wingdings" panose="05000000000000000000" charset="0"/>
              <a:buNone/>
            </a:pPr>
            <a:r>
              <a:t> • BMI and Weight</a:t>
            </a:r>
          </a:p>
          <a:p>
            <a:pPr marL="0" indent="0">
              <a:buFont typeface="Wingdings" panose="05000000000000000000" charset="0"/>
              <a:buNone/>
            </a:pPr>
          </a:p>
          <a:p>
            <a:pPr>
              <a:buFont typeface="Wingdings" panose="05000000000000000000" charset="0"/>
              <a:buChar char="Ø"/>
            </a:pPr>
            <a:r>
              <a:t>Helps in understanding PCOS indicators.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689860" y="1391920"/>
            <a:ext cx="8229600" cy="582613"/>
          </a:xfrm>
        </p:spPr>
        <p:txBody>
          <a:bodyPr/>
          <a:lstStyle/>
          <a:p>
            <a:r>
              <a:rPr sz="4000">
                <a:latin typeface="Algerian" panose="04020705040A02060702" charset="0"/>
                <a:cs typeface="Algerian" panose="04020705040A02060702" charset="0"/>
              </a:rPr>
              <a:t>Conclusion</a:t>
            </a:r>
            <a:endParaRPr sz="4000">
              <a:latin typeface="Algerian" panose="04020705040A02060702" charset="0"/>
              <a:cs typeface="Algerian" panose="04020705040A02060702" charset="0"/>
            </a:endParaRPr>
          </a:p>
        </p:txBody>
      </p:sp>
      <p:sp>
        <p:nvSpPr>
          <p:cNvPr id="3" name="Content Placeholder 2"/>
          <p:cNvSpPr>
            <a:spLocks noGrp="1"/>
          </p:cNvSpPr>
          <p:nvPr>
            <p:ph idx="1"/>
          </p:nvPr>
        </p:nvSpPr>
        <p:spPr>
          <a:xfrm>
            <a:off x="355600" y="2164715"/>
            <a:ext cx="8229600" cy="4953000"/>
          </a:xfrm>
        </p:spPr>
        <p:txBody>
          <a:bodyPr/>
          <a:lstStyle/>
          <a:p>
            <a:pPr>
              <a:buFont typeface="Wingdings" panose="05000000000000000000" charset="0"/>
              <a:buChar char="Ø"/>
            </a:pPr>
            <a:r>
              <a:t> </a:t>
            </a:r>
            <a:r>
              <a:rPr>
                <a:latin typeface="Bahnschrift" panose="020B0502040204020203" charset="0"/>
                <a:cs typeface="Bahnschrift" panose="020B0502040204020203" charset="0"/>
              </a:rPr>
              <a:t>Machine learning offers effective PCOS diagnosis support.</a:t>
            </a:r>
            <a:endParaRPr>
              <a:latin typeface="Bahnschrift" panose="020B0502040204020203" charset="0"/>
              <a:cs typeface="Bahnschrift" panose="020B0502040204020203" charset="0"/>
            </a:endParaRPr>
          </a:p>
          <a:p>
            <a:pPr>
              <a:buFont typeface="Wingdings" panose="05000000000000000000" charset="0"/>
              <a:buChar char="Ø"/>
            </a:pPr>
            <a:r>
              <a:rPr>
                <a:latin typeface="Bahnschrift" panose="020B0502040204020203" charset="0"/>
                <a:cs typeface="Bahnschrift" panose="020B0502040204020203" charset="0"/>
              </a:rPr>
              <a:t> Decision Tree gave best accuracy and interpretability.</a:t>
            </a:r>
            <a:endParaRPr>
              <a:latin typeface="Bahnschrift" panose="020B0502040204020203" charset="0"/>
              <a:cs typeface="Bahnschrift" panose="020B0502040204020203" charset="0"/>
            </a:endParaRPr>
          </a:p>
          <a:p>
            <a:pPr>
              <a:buFont typeface="Wingdings" panose="05000000000000000000" charset="0"/>
              <a:buChar char="Ø"/>
            </a:pPr>
            <a:r>
              <a:rPr>
                <a:latin typeface="Bahnschrift" panose="020B0502040204020203" charset="0"/>
                <a:cs typeface="Bahnschrift" panose="020B0502040204020203" charset="0"/>
              </a:rPr>
              <a:t>Data-driven methods aid clinical decisions and awareness.</a:t>
            </a:r>
            <a:endParaRPr>
              <a:latin typeface="Bahnschrift" panose="020B0502040204020203" charset="0"/>
              <a:cs typeface="Bahnschrift" panose="020B0502040204020203" charset="0"/>
            </a:endParaRPr>
          </a:p>
        </p:txBody>
      </p:sp>
    </p:spTree>
  </p:cSld>
  <p:clrMapOvr>
    <a:masterClrMapping/>
  </p:clrMapOvr>
</p:sld>
</file>

<file path=ppt/theme/theme1.xml><?xml version="1.0" encoding="utf-8"?>
<a:theme xmlns:a="http://schemas.openxmlformats.org/drawingml/2006/main" name="Green Color">
  <a:themeElements>
    <a:clrScheme name="Green Color 13">
      <a:dk1>
        <a:srgbClr val="000000"/>
      </a:dk1>
      <a:lt1>
        <a:srgbClr val="FFFFFF"/>
      </a:lt1>
      <a:dk2>
        <a:srgbClr val="000000"/>
      </a:dk2>
      <a:lt2>
        <a:srgbClr val="969696"/>
      </a:lt2>
      <a:accent1>
        <a:srgbClr val="009900"/>
      </a:accent1>
      <a:accent2>
        <a:srgbClr val="99CC00"/>
      </a:accent2>
      <a:accent3>
        <a:srgbClr val="FFFFFF"/>
      </a:accent3>
      <a:accent4>
        <a:srgbClr val="000000"/>
      </a:accent4>
      <a:accent5>
        <a:srgbClr val="AACAAA"/>
      </a:accent5>
      <a:accent6>
        <a:srgbClr val="8AB900"/>
      </a:accent6>
      <a:hlink>
        <a:srgbClr val="CC3300"/>
      </a:hlink>
      <a:folHlink>
        <a:srgbClr val="996600"/>
      </a:folHlink>
    </a:clrScheme>
    <a:fontScheme name="Green Color">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Green Color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Green Color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Green Color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Green Color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Green Color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Green Color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Green Color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Green Color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Green Color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Green Color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Green Color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Green Color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Green Color 13">
        <a:dk1>
          <a:srgbClr val="000000"/>
        </a:dk1>
        <a:lt1>
          <a:srgbClr val="FFFFFF"/>
        </a:lt1>
        <a:dk2>
          <a:srgbClr val="000000"/>
        </a:dk2>
        <a:lt2>
          <a:srgbClr val="969696"/>
        </a:lt2>
        <a:accent1>
          <a:srgbClr val="009900"/>
        </a:accent1>
        <a:accent2>
          <a:srgbClr val="99CC00"/>
        </a:accent2>
        <a:accent3>
          <a:srgbClr val="FFFFFF"/>
        </a:accent3>
        <a:accent4>
          <a:srgbClr val="000000"/>
        </a:accent4>
        <a:accent5>
          <a:srgbClr val="AACAAA"/>
        </a:accent5>
        <a:accent6>
          <a:srgbClr val="8AB900"/>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1389</Words>
  <Application>WPS Slides</Application>
  <PresentationFormat>On-screen Show (4:3)</PresentationFormat>
  <Paragraphs>53</Paragraphs>
  <Slides>8</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8</vt:i4>
      </vt:variant>
    </vt:vector>
  </HeadingPairs>
  <TitlesOfParts>
    <vt:vector size="20" baseType="lpstr">
      <vt:lpstr>Arial</vt:lpstr>
      <vt:lpstr>SimSun</vt:lpstr>
      <vt:lpstr>Wingdings</vt:lpstr>
      <vt:lpstr>Arial</vt:lpstr>
      <vt:lpstr>Calibri</vt:lpstr>
      <vt:lpstr>Microsoft YaHei</vt:lpstr>
      <vt:lpstr>Arial Unicode MS</vt:lpstr>
      <vt:lpstr>Arial Black</vt:lpstr>
      <vt:lpstr>Algerian</vt:lpstr>
      <vt:lpstr>Bahnschrift</vt:lpstr>
      <vt:lpstr>Wingdings</vt:lpstr>
      <vt:lpstr>Green Color</vt:lpstr>
      <vt:lpstr>PCOS Diagnosis Using Advanced Machine Learning Techniques</vt:lpstr>
      <vt:lpstr>Introduction</vt:lpstr>
      <vt:lpstr>Project Objective</vt:lpstr>
      <vt:lpstr>Data Preprocessing</vt:lpstr>
      <vt:lpstr>Machine Learning Models</vt:lpstr>
      <vt:lpstr>Evaluation Metrics</vt:lpstr>
      <vt:lpstr>Feature Importance</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Somya Jain</cp:lastModifiedBy>
  <cp:revision>3</cp:revision>
  <dcterms:created xsi:type="dcterms:W3CDTF">2013-01-27T09:14:00Z</dcterms:created>
  <dcterms:modified xsi:type="dcterms:W3CDTF">2025-04-08T03:53:16Z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AB585283F613430583A2BD973B68B455_12</vt:lpwstr>
  </property>
  <property fmtid="{D5CDD505-2E9C-101B-9397-08002B2CF9AE}" pid="3" name="KSOProductBuildVer">
    <vt:lpwstr>1033-12.2.0.20782</vt:lpwstr>
  </property>
</Properties>
</file>